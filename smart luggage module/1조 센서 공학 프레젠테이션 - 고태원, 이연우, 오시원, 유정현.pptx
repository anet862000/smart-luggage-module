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lab 레트로라이프" charset="1" panose="02000600000000000000"/>
      <p:regular r:id="rId21"/>
    </p:embeddedFont>
    <p:embeddedFont>
      <p:font typeface="Brick Sans" charset="1" panose="00000000000000000000"/>
      <p:regular r:id="rId22"/>
    </p:embeddedFont>
    <p:embeddedFont>
      <p:font typeface="210 국민체조" charset="1" panose="02020603020101020101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VAHMJh0JolI.mp4" Type="http://schemas.openxmlformats.org/officeDocument/2006/relationships/video"/><Relationship Id="rId6" Target="../media/VAHMJh0JolI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Relationship Id="rId5" Target="../media/VAHMJiWUMzU.mp4" Type="http://schemas.openxmlformats.org/officeDocument/2006/relationships/video"/><Relationship Id="rId6" Target="../media/VAHMJiWUMzU.mp4" Type="http://schemas.microsoft.com/office/2007/relationships/media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jpeg" Type="http://schemas.openxmlformats.org/officeDocument/2006/relationships/image"/><Relationship Id="rId5" Target="../media/VAHMKIpjniU.mp4" Type="http://schemas.openxmlformats.org/officeDocument/2006/relationships/video"/><Relationship Id="rId6" Target="../media/VAHMKIpjniU.mp4" Type="http://schemas.microsoft.com/office/2007/relationships/media"/><Relationship Id="rId7" Target="../media/image12.jpeg" Type="http://schemas.openxmlformats.org/officeDocument/2006/relationships/image"/><Relationship Id="rId8" Target="../media/VAHMKCUPbjI.mp4" Type="http://schemas.openxmlformats.org/officeDocument/2006/relationships/video"/><Relationship Id="rId9" Target="../media/VAHMKCUPbjI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1.png" Type="http://schemas.openxmlformats.org/officeDocument/2006/relationships/image"/><Relationship Id="rId5" Target="../media/image22.jpe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11" Target="../media/VAHMK03zcn4.mp4" Type="http://schemas.openxmlformats.org/officeDocument/2006/relationships/video"/><Relationship Id="rId12" Target="../media/VAHMK03zcn4.mp4" Type="http://schemas.microsoft.com/office/2007/relationships/media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5.jpeg" Type="http://schemas.openxmlformats.org/officeDocument/2006/relationships/image"/><Relationship Id="rId5" Target="../media/VAHMK8kPAD8.mp4" Type="http://schemas.openxmlformats.org/officeDocument/2006/relationships/video"/><Relationship Id="rId6" Target="../media/VAHMK8kPAD8.mp4" Type="http://schemas.microsoft.com/office/2007/relationships/media"/><Relationship Id="rId7" Target="../media/image26.jpeg" Type="http://schemas.openxmlformats.org/officeDocument/2006/relationships/image"/><Relationship Id="rId8" Target="../media/VAHMKxaAJLo.mp4" Type="http://schemas.openxmlformats.org/officeDocument/2006/relationships/video"/><Relationship Id="rId9" Target="../media/VAHMKxaAJLo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476500" y="1969730"/>
            <a:ext cx="13335000" cy="4762500"/>
            <a:chOff x="0" y="0"/>
            <a:chExt cx="3512099" cy="12543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12099" cy="1254321"/>
            </a:xfrm>
            <a:custGeom>
              <a:avLst/>
              <a:gdLst/>
              <a:ahLst/>
              <a:cxnLst/>
              <a:rect r="r" b="b" t="t" l="l"/>
              <a:pathLst>
                <a:path h="1254321" w="3512099">
                  <a:moveTo>
                    <a:pt x="17417" y="0"/>
                  </a:moveTo>
                  <a:lnTo>
                    <a:pt x="3494682" y="0"/>
                  </a:lnTo>
                  <a:cubicBezTo>
                    <a:pt x="3499301" y="0"/>
                    <a:pt x="3503731" y="1835"/>
                    <a:pt x="3506998" y="5101"/>
                  </a:cubicBezTo>
                  <a:cubicBezTo>
                    <a:pt x="3510264" y="8368"/>
                    <a:pt x="3512099" y="12798"/>
                    <a:pt x="3512099" y="17417"/>
                  </a:cubicBezTo>
                  <a:lnTo>
                    <a:pt x="3512099" y="1236904"/>
                  </a:lnTo>
                  <a:cubicBezTo>
                    <a:pt x="3512099" y="1241523"/>
                    <a:pt x="3510264" y="1245953"/>
                    <a:pt x="3506998" y="1249220"/>
                  </a:cubicBezTo>
                  <a:cubicBezTo>
                    <a:pt x="3503731" y="1252486"/>
                    <a:pt x="3499301" y="1254321"/>
                    <a:pt x="3494682" y="1254321"/>
                  </a:cubicBezTo>
                  <a:lnTo>
                    <a:pt x="17417" y="1254321"/>
                  </a:lnTo>
                  <a:cubicBezTo>
                    <a:pt x="12798" y="1254321"/>
                    <a:pt x="8368" y="1252486"/>
                    <a:pt x="5101" y="1249220"/>
                  </a:cubicBezTo>
                  <a:cubicBezTo>
                    <a:pt x="1835" y="1245953"/>
                    <a:pt x="0" y="1241523"/>
                    <a:pt x="0" y="1236904"/>
                  </a:cubicBezTo>
                  <a:lnTo>
                    <a:pt x="0" y="17417"/>
                  </a:lnTo>
                  <a:cubicBezTo>
                    <a:pt x="0" y="12798"/>
                    <a:pt x="1835" y="8368"/>
                    <a:pt x="5101" y="5101"/>
                  </a:cubicBezTo>
                  <a:cubicBezTo>
                    <a:pt x="8368" y="1835"/>
                    <a:pt x="12798" y="0"/>
                    <a:pt x="17417" y="0"/>
                  </a:cubicBezTo>
                  <a:close/>
                </a:path>
              </a:pathLst>
            </a:custGeom>
            <a:solidFill>
              <a:srgbClr val="C0C5C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00025"/>
              <a:ext cx="3512099" cy="1454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65621" y="9154170"/>
            <a:ext cx="6049649" cy="655935"/>
            <a:chOff x="0" y="0"/>
            <a:chExt cx="1593323" cy="1727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3323" cy="172756"/>
            </a:xfrm>
            <a:custGeom>
              <a:avLst/>
              <a:gdLst/>
              <a:ahLst/>
              <a:cxnLst/>
              <a:rect r="r" b="b" t="t" l="l"/>
              <a:pathLst>
                <a:path h="172756" w="1593323">
                  <a:moveTo>
                    <a:pt x="12797" y="0"/>
                  </a:moveTo>
                  <a:lnTo>
                    <a:pt x="1580526" y="0"/>
                  </a:lnTo>
                  <a:cubicBezTo>
                    <a:pt x="1587594" y="0"/>
                    <a:pt x="1593323" y="5730"/>
                    <a:pt x="1593323" y="12797"/>
                  </a:cubicBezTo>
                  <a:lnTo>
                    <a:pt x="1593323" y="159959"/>
                  </a:lnTo>
                  <a:cubicBezTo>
                    <a:pt x="1593323" y="167027"/>
                    <a:pt x="1587594" y="172756"/>
                    <a:pt x="1580526" y="172756"/>
                  </a:cubicBezTo>
                  <a:lnTo>
                    <a:pt x="12797" y="172756"/>
                  </a:lnTo>
                  <a:cubicBezTo>
                    <a:pt x="5730" y="172756"/>
                    <a:pt x="0" y="167027"/>
                    <a:pt x="0" y="159959"/>
                  </a:cubicBezTo>
                  <a:lnTo>
                    <a:pt x="0" y="12797"/>
                  </a:lnTo>
                  <a:cubicBezTo>
                    <a:pt x="0" y="5730"/>
                    <a:pt x="5730" y="0"/>
                    <a:pt x="12797" y="0"/>
                  </a:cubicBezTo>
                  <a:close/>
                </a:path>
              </a:pathLst>
            </a:custGeom>
            <a:solidFill>
              <a:srgbClr val="C0C5C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00025"/>
              <a:ext cx="1593323" cy="372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129087" y="5450642"/>
            <a:ext cx="1202982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#탈착식   #모듈형   #20~30인치 캐리어 대응  # 아두이노 사용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666" y="2449056"/>
            <a:ext cx="15692667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0"/>
              </a:lnSpc>
              <a:spcBef>
                <a:spcPct val="0"/>
              </a:spcBef>
            </a:pPr>
            <a:r>
              <a:rPr lang="en-US" sz="950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SMART CARRIOR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29087" y="4064387"/>
            <a:ext cx="1202982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----------MODULE----------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29473" y="9172575"/>
            <a:ext cx="1202982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1조 고태원 오시원 이연우 유정현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356151" y="3830641"/>
            <a:ext cx="17615451" cy="4499154"/>
            <a:chOff x="0" y="0"/>
            <a:chExt cx="23487268" cy="599887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549921" y="0"/>
              <a:ext cx="7031952" cy="2334679"/>
              <a:chOff x="0" y="0"/>
              <a:chExt cx="1389028" cy="4611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89028" cy="461171"/>
              </a:xfrm>
              <a:custGeom>
                <a:avLst/>
                <a:gdLst/>
                <a:ahLst/>
                <a:cxnLst/>
                <a:rect r="r" b="b" t="t" l="l"/>
                <a:pathLst>
                  <a:path h="461171" w="1389028">
                    <a:moveTo>
                      <a:pt x="44039" y="0"/>
                    </a:moveTo>
                    <a:lnTo>
                      <a:pt x="1344989" y="0"/>
                    </a:lnTo>
                    <a:cubicBezTo>
                      <a:pt x="1356669" y="0"/>
                      <a:pt x="1367870" y="4640"/>
                      <a:pt x="1376129" y="12899"/>
                    </a:cubicBezTo>
                    <a:cubicBezTo>
                      <a:pt x="1384388" y="21157"/>
                      <a:pt x="1389028" y="32359"/>
                      <a:pt x="1389028" y="44039"/>
                    </a:cubicBezTo>
                    <a:lnTo>
                      <a:pt x="1389028" y="417133"/>
                    </a:lnTo>
                    <a:cubicBezTo>
                      <a:pt x="1389028" y="428812"/>
                      <a:pt x="1384388" y="440014"/>
                      <a:pt x="1376129" y="448273"/>
                    </a:cubicBezTo>
                    <a:cubicBezTo>
                      <a:pt x="1367870" y="456531"/>
                      <a:pt x="1356669" y="461171"/>
                      <a:pt x="1344989" y="461171"/>
                    </a:cubicBezTo>
                    <a:lnTo>
                      <a:pt x="44039" y="461171"/>
                    </a:lnTo>
                    <a:cubicBezTo>
                      <a:pt x="32359" y="461171"/>
                      <a:pt x="21157" y="456531"/>
                      <a:pt x="12899" y="448273"/>
                    </a:cubicBezTo>
                    <a:cubicBezTo>
                      <a:pt x="4640" y="440014"/>
                      <a:pt x="0" y="428812"/>
                      <a:pt x="0" y="417133"/>
                    </a:cubicBezTo>
                    <a:lnTo>
                      <a:pt x="0" y="44039"/>
                    </a:lnTo>
                    <a:cubicBezTo>
                      <a:pt x="0" y="32359"/>
                      <a:pt x="4640" y="21157"/>
                      <a:pt x="12899" y="12899"/>
                    </a:cubicBezTo>
                    <a:cubicBezTo>
                      <a:pt x="21157" y="4640"/>
                      <a:pt x="32359" y="0"/>
                      <a:pt x="44039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00025"/>
                <a:ext cx="1389028" cy="6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5315403" y="0"/>
              <a:ext cx="5267650" cy="5998872"/>
              <a:chOff x="0" y="0"/>
              <a:chExt cx="1040523" cy="118496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40523" cy="1184962"/>
              </a:xfrm>
              <a:custGeom>
                <a:avLst/>
                <a:gdLst/>
                <a:ahLst/>
                <a:cxnLst/>
                <a:rect r="r" b="b" t="t" l="l"/>
                <a:pathLst>
                  <a:path h="1184962" w="1040523">
                    <a:moveTo>
                      <a:pt x="39192" y="0"/>
                    </a:moveTo>
                    <a:lnTo>
                      <a:pt x="1001331" y="0"/>
                    </a:lnTo>
                    <a:cubicBezTo>
                      <a:pt x="1011726" y="0"/>
                      <a:pt x="1021694" y="4129"/>
                      <a:pt x="1029044" y="11479"/>
                    </a:cubicBezTo>
                    <a:cubicBezTo>
                      <a:pt x="1036394" y="18829"/>
                      <a:pt x="1040523" y="28798"/>
                      <a:pt x="1040523" y="39192"/>
                    </a:cubicBezTo>
                    <a:lnTo>
                      <a:pt x="1040523" y="1145770"/>
                    </a:lnTo>
                    <a:cubicBezTo>
                      <a:pt x="1040523" y="1167415"/>
                      <a:pt x="1022976" y="1184962"/>
                      <a:pt x="1001331" y="1184962"/>
                    </a:cubicBezTo>
                    <a:lnTo>
                      <a:pt x="39192" y="1184962"/>
                    </a:lnTo>
                    <a:cubicBezTo>
                      <a:pt x="28798" y="1184962"/>
                      <a:pt x="18829" y="1180833"/>
                      <a:pt x="11479" y="1173483"/>
                    </a:cubicBezTo>
                    <a:cubicBezTo>
                      <a:pt x="4129" y="1166133"/>
                      <a:pt x="0" y="1156165"/>
                      <a:pt x="0" y="1145770"/>
                    </a:cubicBezTo>
                    <a:lnTo>
                      <a:pt x="0" y="39192"/>
                    </a:lnTo>
                    <a:cubicBezTo>
                      <a:pt x="0" y="28798"/>
                      <a:pt x="4129" y="18829"/>
                      <a:pt x="11479" y="11479"/>
                    </a:cubicBezTo>
                    <a:cubicBezTo>
                      <a:pt x="18829" y="4129"/>
                      <a:pt x="28798" y="0"/>
                      <a:pt x="39192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00025"/>
                <a:ext cx="1040523" cy="13849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150303" y="244475"/>
              <a:ext cx="8336965" cy="549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프로젝트에 대하여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직면한 문제점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시연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개선 방향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Q&amp;A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796925"/>
              <a:ext cx="10131794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CONTENTS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379970" y="215900"/>
              <a:ext cx="537185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TABLE OF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3833119"/>
            <a:ext cx="15692667" cy="2620762"/>
            <a:chOff x="0" y="0"/>
            <a:chExt cx="20923556" cy="349434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484348" y="0"/>
              <a:ext cx="15954860" cy="3494349"/>
              <a:chOff x="0" y="0"/>
              <a:chExt cx="3151577" cy="69024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151577" cy="690242"/>
              </a:xfrm>
              <a:custGeom>
                <a:avLst/>
                <a:gdLst/>
                <a:ahLst/>
                <a:cxnLst/>
                <a:rect r="r" b="b" t="t" l="l"/>
                <a:pathLst>
                  <a:path h="690242" w="3151577">
                    <a:moveTo>
                      <a:pt x="9705" y="0"/>
                    </a:moveTo>
                    <a:lnTo>
                      <a:pt x="3141872" y="0"/>
                    </a:lnTo>
                    <a:cubicBezTo>
                      <a:pt x="3144446" y="0"/>
                      <a:pt x="3146915" y="1022"/>
                      <a:pt x="3148735" y="2842"/>
                    </a:cubicBezTo>
                    <a:cubicBezTo>
                      <a:pt x="3150555" y="4662"/>
                      <a:pt x="3151577" y="7131"/>
                      <a:pt x="3151577" y="9705"/>
                    </a:cubicBezTo>
                    <a:lnTo>
                      <a:pt x="3151577" y="680537"/>
                    </a:lnTo>
                    <a:cubicBezTo>
                      <a:pt x="3151577" y="683111"/>
                      <a:pt x="3150555" y="685579"/>
                      <a:pt x="3148735" y="687399"/>
                    </a:cubicBezTo>
                    <a:cubicBezTo>
                      <a:pt x="3146915" y="689219"/>
                      <a:pt x="3144446" y="690242"/>
                      <a:pt x="3141872" y="690242"/>
                    </a:cubicBezTo>
                    <a:lnTo>
                      <a:pt x="9705" y="690242"/>
                    </a:lnTo>
                    <a:cubicBezTo>
                      <a:pt x="7131" y="690242"/>
                      <a:pt x="4662" y="689219"/>
                      <a:pt x="2842" y="687399"/>
                    </a:cubicBezTo>
                    <a:cubicBezTo>
                      <a:pt x="1022" y="685579"/>
                      <a:pt x="0" y="683111"/>
                      <a:pt x="0" y="680537"/>
                    </a:cubicBezTo>
                    <a:lnTo>
                      <a:pt x="0" y="9705"/>
                    </a:lnTo>
                    <a:cubicBezTo>
                      <a:pt x="0" y="7131"/>
                      <a:pt x="1022" y="4662"/>
                      <a:pt x="2842" y="2842"/>
                    </a:cubicBezTo>
                    <a:cubicBezTo>
                      <a:pt x="4662" y="1022"/>
                      <a:pt x="7131" y="0"/>
                      <a:pt x="9705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00025"/>
                <a:ext cx="3151577" cy="890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286799"/>
              <a:ext cx="20923556" cy="2035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400"/>
                </a:lnSpc>
                <a:spcBef>
                  <a:spcPct val="0"/>
                </a:spcBef>
              </a:pPr>
              <a:r>
                <a:rPr lang="en-US" sz="95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ABOUT PROJECT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91424" y="172374"/>
              <a:ext cx="11140708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프로젝트에 대하여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446991" y="2377711"/>
            <a:ext cx="11394019" cy="6413730"/>
          </a:xfrm>
          <a:prstGeom prst="rect">
            <a:avLst/>
          </a:prstGeom>
          <a:ln w="28575" cap="sq">
            <a:solidFill>
              <a:srgbClr val="6C6E80"/>
            </a:solidFill>
            <a:prstDash val="dash"/>
          </a:ln>
        </p:spPr>
      </p:pic>
      <p:sp>
        <p:nvSpPr>
          <p:cNvPr name="TextBox 20" id="20"/>
          <p:cNvSpPr txBox="true"/>
          <p:nvPr/>
        </p:nvSpPr>
        <p:spPr>
          <a:xfrm rot="0">
            <a:off x="4147961" y="9104673"/>
            <a:ext cx="999207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이미   시중에    존재하는    스마트    캐리어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WHY?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주제 선정 이유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WHY?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주제 선정 이유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666028" y="2227578"/>
            <a:ext cx="4996039" cy="7030722"/>
            <a:chOff x="0" y="0"/>
            <a:chExt cx="6661385" cy="9374297"/>
          </a:xfrm>
        </p:grpSpPr>
        <p:pic>
          <p:nvPicPr>
            <p:cNvPr name="Picture 23" id="23">
              <a:hlinkClick action="ppaction://media"/>
            </p:cNvPr>
            <p:cNvPicPr>
              <a:picLocks noChangeAspect="true"/>
            </p:cNvPicPr>
            <p:nvPr>
              <a:videoFile r:link="rId5"/>
              <p:extLst>
                <p:ext uri="{DAA4B4D4-6D71-4841-9C94-3DE7FCFB9230}">
                  <p14:media xmlns:p14="http://schemas.microsoft.com/office/powerpoint/2010/main" r:embed="rId6"/>
                </p:ext>
              </p:extLst>
            </p:nvPr>
          </p:nvPicPr>
          <p:blipFill>
            <a:blip r:embed="rId4"/>
            <a:srcRect l="2217" t="29433" r="22338" b="14992"/>
            <a:stretch>
              <a:fillRect/>
            </a:stretch>
          </p:blipFill>
          <p:spPr>
            <a:xfrm flipH="false" flipV="false" rot="0">
              <a:off x="84313" y="0"/>
              <a:ext cx="6492760" cy="8449622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sp>
          <p:nvSpPr>
            <p:cNvPr name="TextBox 24" id="24"/>
            <p:cNvSpPr txBox="true"/>
            <p:nvPr/>
          </p:nvSpPr>
          <p:spPr>
            <a:xfrm rot="0">
              <a:off x="0" y="8866297"/>
              <a:ext cx="6661385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비싼 스마트 캐리어가 망가지면....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46117" y="2227578"/>
            <a:ext cx="6264024" cy="7030722"/>
            <a:chOff x="0" y="0"/>
            <a:chExt cx="8352032" cy="93742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95249" y="0"/>
              <a:ext cx="7561533" cy="8449622"/>
            </a:xfrm>
            <a:custGeom>
              <a:avLst/>
              <a:gdLst/>
              <a:ahLst/>
              <a:cxnLst/>
              <a:rect r="r" b="b" t="t" l="l"/>
              <a:pathLst>
                <a:path h="8449622" w="7561533">
                  <a:moveTo>
                    <a:pt x="0" y="0"/>
                  </a:moveTo>
                  <a:lnTo>
                    <a:pt x="7561534" y="0"/>
                  </a:lnTo>
                  <a:lnTo>
                    <a:pt x="7561534" y="8449622"/>
                  </a:lnTo>
                  <a:lnTo>
                    <a:pt x="0" y="8449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5" t="0" r="-285" b="0"/>
              </a:stretch>
            </a:blipFill>
            <a:ln w="28575" cap="sq">
              <a:solidFill>
                <a:srgbClr val="6C6E80"/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8866297"/>
              <a:ext cx="8352032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먼저 배터리를 분리하고...다시 지퍼 닫고...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0534" y="2086887"/>
            <a:ext cx="16241719" cy="6874868"/>
            <a:chOff x="0" y="0"/>
            <a:chExt cx="21655625" cy="91664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0967" y="0"/>
              <a:ext cx="4114800" cy="6223000"/>
              <a:chOff x="0" y="0"/>
              <a:chExt cx="812800" cy="122923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889" y="7337861"/>
              <a:ext cx="4114800" cy="1815930"/>
              <a:chOff x="0" y="0"/>
              <a:chExt cx="812800" cy="35870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358702"/>
              </a:xfrm>
              <a:custGeom>
                <a:avLst/>
                <a:gdLst/>
                <a:ahLst/>
                <a:cxnLst/>
                <a:rect r="r" b="b" t="t" l="l"/>
                <a:pathLst>
                  <a:path h="35870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58702"/>
                    </a:lnTo>
                    <a:lnTo>
                      <a:pt x="0" y="35870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812800" cy="3587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967" y="0"/>
              <a:ext cx="4114800" cy="6223000"/>
              <a:chOff x="0" y="0"/>
              <a:chExt cx="812800" cy="122923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10928" y="7337861"/>
              <a:ext cx="411480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10889" y="9153791"/>
              <a:ext cx="4114878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5856668" y="0"/>
              <a:ext cx="4114800" cy="6223000"/>
              <a:chOff x="0" y="0"/>
              <a:chExt cx="812800" cy="122923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5856590" y="7337861"/>
              <a:ext cx="4114800" cy="1815930"/>
              <a:chOff x="0" y="0"/>
              <a:chExt cx="812800" cy="35870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358702"/>
              </a:xfrm>
              <a:custGeom>
                <a:avLst/>
                <a:gdLst/>
                <a:ahLst/>
                <a:cxnLst/>
                <a:rect r="r" b="b" t="t" l="l"/>
                <a:pathLst>
                  <a:path h="35870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58702"/>
                    </a:lnTo>
                    <a:lnTo>
                      <a:pt x="0" y="35870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812800" cy="3587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5856668" y="0"/>
              <a:ext cx="4114800" cy="6223000"/>
              <a:chOff x="0" y="0"/>
              <a:chExt cx="812800" cy="122923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AutoShape 40" id="40"/>
            <p:cNvSpPr/>
            <p:nvPr/>
          </p:nvSpPr>
          <p:spPr>
            <a:xfrm>
              <a:off x="5856629" y="7337861"/>
              <a:ext cx="411480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5856590" y="9153791"/>
              <a:ext cx="4114878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2" id="42"/>
            <p:cNvGrpSpPr/>
            <p:nvPr/>
          </p:nvGrpSpPr>
          <p:grpSpPr>
            <a:xfrm rot="0">
              <a:off x="11698747" y="0"/>
              <a:ext cx="4114800" cy="6223000"/>
              <a:chOff x="0" y="0"/>
              <a:chExt cx="812800" cy="122923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1698668" y="7337861"/>
              <a:ext cx="4114800" cy="1815930"/>
              <a:chOff x="0" y="0"/>
              <a:chExt cx="812800" cy="35870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358702"/>
              </a:xfrm>
              <a:custGeom>
                <a:avLst/>
                <a:gdLst/>
                <a:ahLst/>
                <a:cxnLst/>
                <a:rect r="r" b="b" t="t" l="l"/>
                <a:pathLst>
                  <a:path h="35870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58702"/>
                    </a:lnTo>
                    <a:lnTo>
                      <a:pt x="0" y="35870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812800" cy="3587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1698747" y="0"/>
              <a:ext cx="4114800" cy="6223000"/>
              <a:chOff x="0" y="0"/>
              <a:chExt cx="812800" cy="122923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AutoShape 51" id="51"/>
            <p:cNvSpPr/>
            <p:nvPr/>
          </p:nvSpPr>
          <p:spPr>
            <a:xfrm>
              <a:off x="11698707" y="7337861"/>
              <a:ext cx="411480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>
              <a:off x="11698668" y="9153791"/>
              <a:ext cx="4114878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3" id="53"/>
            <p:cNvGrpSpPr/>
            <p:nvPr/>
          </p:nvGrpSpPr>
          <p:grpSpPr>
            <a:xfrm rot="0">
              <a:off x="17540825" y="0"/>
              <a:ext cx="4114800" cy="6223000"/>
              <a:chOff x="0" y="0"/>
              <a:chExt cx="812800" cy="1229235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7540747" y="7337861"/>
              <a:ext cx="4114800" cy="1815930"/>
              <a:chOff x="0" y="0"/>
              <a:chExt cx="812800" cy="35870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358702"/>
              </a:xfrm>
              <a:custGeom>
                <a:avLst/>
                <a:gdLst/>
                <a:ahLst/>
                <a:cxnLst/>
                <a:rect r="r" b="b" t="t" l="l"/>
                <a:pathLst>
                  <a:path h="35870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58702"/>
                    </a:lnTo>
                    <a:lnTo>
                      <a:pt x="0" y="35870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0"/>
                <a:ext cx="812800" cy="3587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17540825" y="0"/>
              <a:ext cx="4114800" cy="6223000"/>
              <a:chOff x="0" y="0"/>
              <a:chExt cx="812800" cy="1229235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0"/>
                <a:ext cx="812800" cy="1229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AutoShape 62" id="62"/>
            <p:cNvSpPr/>
            <p:nvPr/>
          </p:nvSpPr>
          <p:spPr>
            <a:xfrm>
              <a:off x="17540786" y="7337861"/>
              <a:ext cx="411480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17540747" y="9153791"/>
              <a:ext cx="4114878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7871525" y="1213634"/>
              <a:ext cx="3453321" cy="3631600"/>
            </a:xfrm>
            <a:custGeom>
              <a:avLst/>
              <a:gdLst/>
              <a:ahLst/>
              <a:cxnLst/>
              <a:rect r="r" b="b" t="t" l="l"/>
              <a:pathLst>
                <a:path h="3631600" w="3453321">
                  <a:moveTo>
                    <a:pt x="0" y="0"/>
                  </a:moveTo>
                  <a:lnTo>
                    <a:pt x="3453321" y="0"/>
                  </a:lnTo>
                  <a:lnTo>
                    <a:pt x="3453321" y="3631600"/>
                  </a:lnTo>
                  <a:lnTo>
                    <a:pt x="0" y="363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1961005" y="1199066"/>
              <a:ext cx="3615606" cy="3615606"/>
            </a:xfrm>
            <a:custGeom>
              <a:avLst/>
              <a:gdLst/>
              <a:ahLst/>
              <a:cxnLst/>
              <a:rect r="r" b="b" t="t" l="l"/>
              <a:pathLst>
                <a:path h="3615606" w="3615606">
                  <a:moveTo>
                    <a:pt x="0" y="0"/>
                  </a:moveTo>
                  <a:lnTo>
                    <a:pt x="3615605" y="0"/>
                  </a:lnTo>
                  <a:lnTo>
                    <a:pt x="3615605" y="3615605"/>
                  </a:lnTo>
                  <a:lnTo>
                    <a:pt x="0" y="3615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83584" y="1229628"/>
              <a:ext cx="3615606" cy="3615606"/>
            </a:xfrm>
            <a:custGeom>
              <a:avLst/>
              <a:gdLst/>
              <a:ahLst/>
              <a:cxnLst/>
              <a:rect r="r" b="b" t="t" l="l"/>
              <a:pathLst>
                <a:path h="3615606" w="3615606">
                  <a:moveTo>
                    <a:pt x="0" y="0"/>
                  </a:moveTo>
                  <a:lnTo>
                    <a:pt x="3615606" y="0"/>
                  </a:lnTo>
                  <a:lnTo>
                    <a:pt x="3615606" y="3615606"/>
                  </a:lnTo>
                  <a:lnTo>
                    <a:pt x="0" y="3615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216719" y="620810"/>
              <a:ext cx="3390996" cy="4833241"/>
            </a:xfrm>
            <a:custGeom>
              <a:avLst/>
              <a:gdLst/>
              <a:ahLst/>
              <a:cxnLst/>
              <a:rect r="r" b="b" t="t" l="l"/>
              <a:pathLst>
                <a:path h="4833241" w="3390996">
                  <a:moveTo>
                    <a:pt x="0" y="0"/>
                  </a:moveTo>
                  <a:lnTo>
                    <a:pt x="3390997" y="0"/>
                  </a:lnTo>
                  <a:lnTo>
                    <a:pt x="3390997" y="4833241"/>
                  </a:lnTo>
                  <a:lnTo>
                    <a:pt x="0" y="4833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1265" t="0" r="-2126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10889" y="7427084"/>
              <a:ext cx="127000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고태원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5856590" y="7427084"/>
              <a:ext cx="147836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이연우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11705535" y="7427084"/>
              <a:ext cx="127000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유정현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7540747" y="7427084"/>
              <a:ext cx="127000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오시원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5854778" y="8112249"/>
              <a:ext cx="4114878" cy="910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아두이노 코딩</a:t>
              </a:r>
            </a:p>
            <a:p>
              <a:pPr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센서 및 회로 설계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8112249"/>
              <a:ext cx="4114878" cy="910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컨셉 디자인</a:t>
              </a:r>
            </a:p>
            <a:p>
              <a:pPr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CAD 설계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11711368" y="8112249"/>
              <a:ext cx="4114878" cy="910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프로토타입 조립</a:t>
              </a:r>
            </a:p>
            <a:p>
              <a:pPr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3D 프린팅 공차 수정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17536810" y="8112249"/>
              <a:ext cx="4114878" cy="910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배선 작업</a:t>
              </a:r>
            </a:p>
            <a:p>
              <a:pPr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부품 테스트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77" id="77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TEAMS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팀원 소개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3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HOW IT WORKS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구동 방식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9073" y="2352363"/>
            <a:ext cx="15933387" cy="6982137"/>
            <a:chOff x="0" y="0"/>
            <a:chExt cx="21244515" cy="9309516"/>
          </a:xfrm>
        </p:grpSpPr>
        <p:pic>
          <p:nvPicPr>
            <p:cNvPr name="Picture 23" id="23">
              <a:hlinkClick action="ppaction://media"/>
            </p:cNvPr>
            <p:cNvPicPr>
              <a:picLocks noChangeAspect="true"/>
            </p:cNvPicPr>
            <p:nvPr>
              <a:videoFile r:link="rId5"/>
              <p:extLst>
                <p:ext uri="{DAA4B4D4-6D71-4841-9C94-3DE7FCFB9230}">
                  <p14:media xmlns:p14="http://schemas.microsoft.com/office/powerpoint/2010/main" r:embed="rId6"/>
                </p:ext>
              </p:extLst>
            </p:nvPr>
          </p:nvPicPr>
          <p:blipFill>
            <a:blip r:embed="rId4"/>
            <a:srcRect l="22450" t="0" r="23652" b="0"/>
            <a:stretch>
              <a:fillRect/>
            </a:stretch>
          </p:blipFill>
          <p:spPr>
            <a:xfrm flipH="false" flipV="false" rot="0">
              <a:off x="0" y="0"/>
              <a:ext cx="7943460" cy="8290315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pic>
          <p:nvPicPr>
            <p:cNvPr name="Picture 24" id="24">
              <a:hlinkClick action="ppaction://media"/>
            </p:cNvPr>
            <p:cNvPicPr>
              <a:picLocks noChangeAspect="true"/>
            </p:cNvPicPr>
            <p:nvPr>
              <a:videoFile r:link="rId8"/>
              <p:extLst>
                <p:ext uri="{DAA4B4D4-6D71-4841-9C94-3DE7FCFB9230}">
                  <p14:media xmlns:p14="http://schemas.microsoft.com/office/powerpoint/2010/main" r:embed="rId9"/>
                </p:ext>
              </p:extLst>
            </p:nvPr>
          </p:nvPicPr>
          <p:blipFill>
            <a:blip r:embed="rId7"/>
            <a:srcRect l="14012" t="3592" r="18376" b="0"/>
            <a:stretch>
              <a:fillRect/>
            </a:stretch>
          </p:blipFill>
          <p:spPr>
            <a:xfrm flipH="false" flipV="false" rot="0">
              <a:off x="10994225" y="68938"/>
              <a:ext cx="10250291" cy="8221377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sp>
          <p:nvSpPr>
            <p:cNvPr name="TextBox 25" id="25"/>
            <p:cNvSpPr txBox="true"/>
            <p:nvPr/>
          </p:nvSpPr>
          <p:spPr>
            <a:xfrm rot="0">
              <a:off x="2142794" y="8518941"/>
              <a:ext cx="3383403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유닛 확장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4684989" y="8518941"/>
              <a:ext cx="3383403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센서 확장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5239" y="1870595"/>
            <a:ext cx="17782761" cy="8171404"/>
            <a:chOff x="0" y="0"/>
            <a:chExt cx="23710348" cy="1089520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1829774" y="3742377"/>
              <a:ext cx="11880574" cy="3413281"/>
              <a:chOff x="0" y="0"/>
              <a:chExt cx="1458757" cy="4191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829774" y="3724339"/>
              <a:ext cx="11269039" cy="3438015"/>
              <a:chOff x="0" y="0"/>
              <a:chExt cx="1739049" cy="53055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1829774" y="44496"/>
              <a:ext cx="11269039" cy="3438015"/>
              <a:chOff x="0" y="0"/>
              <a:chExt cx="1739049" cy="53055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95204"/>
              <a:ext cx="11880574" cy="3413281"/>
              <a:chOff x="0" y="0"/>
              <a:chExt cx="1458757" cy="4191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71456"/>
              <a:ext cx="11269039" cy="3438015"/>
              <a:chOff x="0" y="0"/>
              <a:chExt cx="1739049" cy="53055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71456"/>
              <a:ext cx="11269039" cy="3438015"/>
              <a:chOff x="0" y="0"/>
              <a:chExt cx="1739049" cy="53055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931357" y="414427"/>
              <a:ext cx="2067698" cy="1995937"/>
            </a:xfrm>
            <a:custGeom>
              <a:avLst/>
              <a:gdLst/>
              <a:ahLst/>
              <a:cxnLst/>
              <a:rect r="r" b="b" t="t" l="l"/>
              <a:pathLst>
                <a:path h="1995937" w="2067698">
                  <a:moveTo>
                    <a:pt x="0" y="0"/>
                  </a:moveTo>
                  <a:lnTo>
                    <a:pt x="2067698" y="0"/>
                  </a:lnTo>
                  <a:lnTo>
                    <a:pt x="2067698" y="1995937"/>
                  </a:lnTo>
                  <a:lnTo>
                    <a:pt x="0" y="1995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81" r="0" b="-24587"/>
              </a:stretch>
            </a:blipFill>
          </p:spPr>
        </p:sp>
        <p:grpSp>
          <p:nvGrpSpPr>
            <p:cNvPr name="Group 39" id="39"/>
            <p:cNvGrpSpPr/>
            <p:nvPr/>
          </p:nvGrpSpPr>
          <p:grpSpPr>
            <a:xfrm rot="0">
              <a:off x="11829774" y="0"/>
              <a:ext cx="11252510" cy="3413281"/>
              <a:chOff x="0" y="0"/>
              <a:chExt cx="1381640" cy="4191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8164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381640">
                    <a:moveTo>
                      <a:pt x="17917" y="0"/>
                    </a:moveTo>
                    <a:lnTo>
                      <a:pt x="1363723" y="0"/>
                    </a:lnTo>
                    <a:cubicBezTo>
                      <a:pt x="1368475" y="0"/>
                      <a:pt x="1373033" y="1888"/>
                      <a:pt x="1376393" y="5248"/>
                    </a:cubicBezTo>
                    <a:cubicBezTo>
                      <a:pt x="1379753" y="8608"/>
                      <a:pt x="1381640" y="13165"/>
                      <a:pt x="1381640" y="17917"/>
                    </a:cubicBezTo>
                    <a:lnTo>
                      <a:pt x="1381640" y="401183"/>
                    </a:lnTo>
                    <a:cubicBezTo>
                      <a:pt x="1381640" y="411078"/>
                      <a:pt x="1373619" y="419100"/>
                      <a:pt x="1363723" y="419100"/>
                    </a:cubicBezTo>
                    <a:lnTo>
                      <a:pt x="17917" y="419100"/>
                    </a:lnTo>
                    <a:cubicBezTo>
                      <a:pt x="8022" y="419100"/>
                      <a:pt x="0" y="411078"/>
                      <a:pt x="0" y="401183"/>
                    </a:cubicBezTo>
                    <a:lnTo>
                      <a:pt x="0" y="17917"/>
                    </a:lnTo>
                    <a:cubicBezTo>
                      <a:pt x="0" y="8022"/>
                      <a:pt x="8022" y="0"/>
                      <a:pt x="17917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1381640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846302" y="53440"/>
              <a:ext cx="11252510" cy="3437028"/>
              <a:chOff x="0" y="0"/>
              <a:chExt cx="1736499" cy="53040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736498" cy="530406"/>
              </a:xfrm>
              <a:custGeom>
                <a:avLst/>
                <a:gdLst/>
                <a:ahLst/>
                <a:cxnLst/>
                <a:rect r="r" b="b" t="t" l="l"/>
                <a:pathLst>
                  <a:path h="530406" w="1736498">
                    <a:moveTo>
                      <a:pt x="17917" y="0"/>
                    </a:moveTo>
                    <a:lnTo>
                      <a:pt x="1718581" y="0"/>
                    </a:lnTo>
                    <a:cubicBezTo>
                      <a:pt x="1723333" y="0"/>
                      <a:pt x="1727891" y="1888"/>
                      <a:pt x="1731251" y="5248"/>
                    </a:cubicBezTo>
                    <a:cubicBezTo>
                      <a:pt x="1734611" y="8608"/>
                      <a:pt x="1736498" y="13165"/>
                      <a:pt x="1736498" y="17917"/>
                    </a:cubicBezTo>
                    <a:lnTo>
                      <a:pt x="1736498" y="512488"/>
                    </a:lnTo>
                    <a:cubicBezTo>
                      <a:pt x="1736498" y="522384"/>
                      <a:pt x="1728477" y="530406"/>
                      <a:pt x="1718581" y="530406"/>
                    </a:cubicBezTo>
                    <a:lnTo>
                      <a:pt x="17917" y="530406"/>
                    </a:lnTo>
                    <a:cubicBezTo>
                      <a:pt x="8022" y="530406"/>
                      <a:pt x="0" y="522384"/>
                      <a:pt x="0" y="512488"/>
                    </a:cubicBezTo>
                    <a:lnTo>
                      <a:pt x="0" y="17917"/>
                    </a:lnTo>
                    <a:cubicBezTo>
                      <a:pt x="0" y="8022"/>
                      <a:pt x="8022" y="0"/>
                      <a:pt x="17917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1736499" cy="5589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4969803" y="720439"/>
              <a:ext cx="7931562" cy="1886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38kHz 적외선 신호 수신</a:t>
              </a:r>
            </a:p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거리: 18m, 각도: ±45°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2412376" y="2684599"/>
              <a:ext cx="2557427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IR 수신 모듈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0">
              <a:off x="12412376" y="279892"/>
              <a:ext cx="2557427" cy="2265007"/>
            </a:xfrm>
            <a:custGeom>
              <a:avLst/>
              <a:gdLst/>
              <a:ahLst/>
              <a:cxnLst/>
              <a:rect r="r" b="b" t="t" l="l"/>
              <a:pathLst>
                <a:path h="2265007" w="2557427">
                  <a:moveTo>
                    <a:pt x="0" y="0"/>
                  </a:moveTo>
                  <a:lnTo>
                    <a:pt x="2557427" y="0"/>
                  </a:lnTo>
                  <a:lnTo>
                    <a:pt x="2557427" y="2265007"/>
                  </a:lnTo>
                  <a:lnTo>
                    <a:pt x="0" y="226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767" t="-13556" r="-16626" b="-38188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3788252"/>
              <a:ext cx="11880574" cy="3413281"/>
              <a:chOff x="0" y="0"/>
              <a:chExt cx="1458757" cy="4191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3751299"/>
              <a:ext cx="11269039" cy="3438015"/>
              <a:chOff x="0" y="0"/>
              <a:chExt cx="1739049" cy="53055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3764504"/>
              <a:ext cx="11269039" cy="3437028"/>
              <a:chOff x="0" y="0"/>
              <a:chExt cx="1739049" cy="53040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739049" cy="530406"/>
              </a:xfrm>
              <a:custGeom>
                <a:avLst/>
                <a:gdLst/>
                <a:ahLst/>
                <a:cxnLst/>
                <a:rect r="r" b="b" t="t" l="l"/>
                <a:pathLst>
                  <a:path h="530406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515"/>
                    </a:lnTo>
                    <a:cubicBezTo>
                      <a:pt x="1739049" y="517260"/>
                      <a:pt x="1737164" y="521810"/>
                      <a:pt x="1733809" y="525165"/>
                    </a:cubicBezTo>
                    <a:cubicBezTo>
                      <a:pt x="1730454" y="528521"/>
                      <a:pt x="1725903" y="530406"/>
                      <a:pt x="1721158" y="530406"/>
                    </a:cubicBezTo>
                    <a:lnTo>
                      <a:pt x="17891" y="530406"/>
                    </a:lnTo>
                    <a:cubicBezTo>
                      <a:pt x="8010" y="530406"/>
                      <a:pt x="0" y="522396"/>
                      <a:pt x="0" y="512515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28575"/>
                <a:ext cx="1739049" cy="5589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1829774" y="3754251"/>
              <a:ext cx="11880574" cy="3413281"/>
              <a:chOff x="0" y="0"/>
              <a:chExt cx="1458757" cy="4191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1829774" y="3732468"/>
              <a:ext cx="11269039" cy="3456846"/>
              <a:chOff x="0" y="0"/>
              <a:chExt cx="1739049" cy="53346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739049" cy="533464"/>
              </a:xfrm>
              <a:custGeom>
                <a:avLst/>
                <a:gdLst/>
                <a:ahLst/>
                <a:cxnLst/>
                <a:rect r="r" b="b" t="t" l="l"/>
                <a:pathLst>
                  <a:path h="533464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5573"/>
                    </a:lnTo>
                    <a:cubicBezTo>
                      <a:pt x="1739049" y="520318"/>
                      <a:pt x="1737164" y="524869"/>
                      <a:pt x="1733809" y="528224"/>
                    </a:cubicBezTo>
                    <a:cubicBezTo>
                      <a:pt x="1730454" y="531579"/>
                      <a:pt x="1725903" y="533464"/>
                      <a:pt x="1721158" y="533464"/>
                    </a:cubicBezTo>
                    <a:lnTo>
                      <a:pt x="17891" y="533464"/>
                    </a:lnTo>
                    <a:cubicBezTo>
                      <a:pt x="13146" y="533464"/>
                      <a:pt x="8595" y="531579"/>
                      <a:pt x="5240" y="528224"/>
                    </a:cubicBezTo>
                    <a:cubicBezTo>
                      <a:pt x="1885" y="524869"/>
                      <a:pt x="0" y="520318"/>
                      <a:pt x="0" y="515573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28575"/>
                <a:ext cx="1739049" cy="5620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14974416" y="4301918"/>
              <a:ext cx="7943212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소리 출력 센서</a:t>
              </a:r>
            </a:p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80dB ~ 100dB 이상의 출력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2413232" y="6327893"/>
              <a:ext cx="2561184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피에로 부저</a:t>
              </a:r>
            </a:p>
          </p:txBody>
        </p:sp>
        <p:grpSp>
          <p:nvGrpSpPr>
            <p:cNvPr name="Group 65" id="65"/>
            <p:cNvGrpSpPr/>
            <p:nvPr/>
          </p:nvGrpSpPr>
          <p:grpSpPr>
            <a:xfrm rot="0">
              <a:off x="0" y="7443360"/>
              <a:ext cx="11880574" cy="3413281"/>
              <a:chOff x="0" y="0"/>
              <a:chExt cx="1458757" cy="4191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7443360"/>
              <a:ext cx="11269039" cy="3438015"/>
              <a:chOff x="0" y="0"/>
              <a:chExt cx="1739049" cy="530558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7447923"/>
              <a:ext cx="11269039" cy="3406492"/>
              <a:chOff x="0" y="0"/>
              <a:chExt cx="1739049" cy="52569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739049" cy="525693"/>
              </a:xfrm>
              <a:custGeom>
                <a:avLst/>
                <a:gdLst/>
                <a:ahLst/>
                <a:cxnLst/>
                <a:rect r="r" b="b" t="t" l="l"/>
                <a:pathLst>
                  <a:path h="525693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07802"/>
                    </a:lnTo>
                    <a:cubicBezTo>
                      <a:pt x="1739049" y="512547"/>
                      <a:pt x="1737164" y="517098"/>
                      <a:pt x="1733809" y="520453"/>
                    </a:cubicBezTo>
                    <a:cubicBezTo>
                      <a:pt x="1730454" y="523808"/>
                      <a:pt x="1725903" y="525693"/>
                      <a:pt x="1721158" y="525693"/>
                    </a:cubicBezTo>
                    <a:lnTo>
                      <a:pt x="17891" y="525693"/>
                    </a:lnTo>
                    <a:cubicBezTo>
                      <a:pt x="8010" y="525693"/>
                      <a:pt x="0" y="517683"/>
                      <a:pt x="0" y="507802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28575"/>
                <a:ext cx="1739049" cy="5542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3315291" y="7364568"/>
              <a:ext cx="5831880" cy="320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초음파 방식 거리 측정</a:t>
              </a:r>
            </a:p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거리: 2cm ~ 400cm</a:t>
              </a:r>
            </a:p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각도: ±15°</a:t>
              </a:r>
            </a:p>
          </p:txBody>
        </p:sp>
        <p:grpSp>
          <p:nvGrpSpPr>
            <p:cNvPr name="Group 75" id="75"/>
            <p:cNvGrpSpPr/>
            <p:nvPr/>
          </p:nvGrpSpPr>
          <p:grpSpPr>
            <a:xfrm rot="0">
              <a:off x="11829774" y="7420544"/>
              <a:ext cx="11880574" cy="3413281"/>
              <a:chOff x="0" y="0"/>
              <a:chExt cx="1458757" cy="4191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458757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458757">
                    <a:moveTo>
                      <a:pt x="16970" y="0"/>
                    </a:moveTo>
                    <a:lnTo>
                      <a:pt x="1441787" y="0"/>
                    </a:lnTo>
                    <a:cubicBezTo>
                      <a:pt x="1451160" y="0"/>
                      <a:pt x="1458757" y="7598"/>
                      <a:pt x="1458757" y="16970"/>
                    </a:cubicBezTo>
                    <a:lnTo>
                      <a:pt x="1458757" y="402130"/>
                    </a:lnTo>
                    <a:cubicBezTo>
                      <a:pt x="1458757" y="411502"/>
                      <a:pt x="1451160" y="419100"/>
                      <a:pt x="1441787" y="419100"/>
                    </a:cubicBezTo>
                    <a:lnTo>
                      <a:pt x="16970" y="419100"/>
                    </a:lnTo>
                    <a:cubicBezTo>
                      <a:pt x="7598" y="419100"/>
                      <a:pt x="0" y="411502"/>
                      <a:pt x="0" y="402130"/>
                    </a:cubicBezTo>
                    <a:lnTo>
                      <a:pt x="0" y="16970"/>
                    </a:lnTo>
                    <a:cubicBezTo>
                      <a:pt x="0" y="7598"/>
                      <a:pt x="7598" y="0"/>
                      <a:pt x="16970" y="0"/>
                    </a:cubicBezTo>
                    <a:close/>
                  </a:path>
                </a:pathLst>
              </a:custGeom>
              <a:solidFill>
                <a:srgbClr val="FFFFFF">
                  <a:alpha val="72941"/>
                </a:srgbClr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0"/>
                <a:ext cx="1458757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11829774" y="7416400"/>
              <a:ext cx="11269039" cy="3438015"/>
              <a:chOff x="0" y="0"/>
              <a:chExt cx="1739049" cy="53055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1739049" cy="530558"/>
              </a:xfrm>
              <a:custGeom>
                <a:avLst/>
                <a:gdLst/>
                <a:ahLst/>
                <a:cxnLst/>
                <a:rect r="r" b="b" t="t" l="l"/>
                <a:pathLst>
                  <a:path h="53055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2667"/>
                    </a:lnTo>
                    <a:cubicBezTo>
                      <a:pt x="1739049" y="522548"/>
                      <a:pt x="1731039" y="530558"/>
                      <a:pt x="1721158" y="530558"/>
                    </a:cubicBezTo>
                    <a:lnTo>
                      <a:pt x="17891" y="530558"/>
                    </a:lnTo>
                    <a:cubicBezTo>
                      <a:pt x="13146" y="530558"/>
                      <a:pt x="8595" y="528673"/>
                      <a:pt x="5240" y="525318"/>
                    </a:cubicBezTo>
                    <a:cubicBezTo>
                      <a:pt x="1885" y="521963"/>
                      <a:pt x="0" y="517412"/>
                      <a:pt x="0" y="51266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28575"/>
                <a:ext cx="1739049" cy="559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1829774" y="7447923"/>
              <a:ext cx="11269039" cy="3447282"/>
              <a:chOff x="0" y="0"/>
              <a:chExt cx="1739049" cy="531988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1739049" cy="531988"/>
              </a:xfrm>
              <a:custGeom>
                <a:avLst/>
                <a:gdLst/>
                <a:ahLst/>
                <a:cxnLst/>
                <a:rect r="r" b="b" t="t" l="l"/>
                <a:pathLst>
                  <a:path h="531988" w="1739049">
                    <a:moveTo>
                      <a:pt x="17891" y="0"/>
                    </a:moveTo>
                    <a:lnTo>
                      <a:pt x="1721158" y="0"/>
                    </a:lnTo>
                    <a:cubicBezTo>
                      <a:pt x="1725903" y="0"/>
                      <a:pt x="1730454" y="1885"/>
                      <a:pt x="1733809" y="5240"/>
                    </a:cubicBezTo>
                    <a:cubicBezTo>
                      <a:pt x="1737164" y="8595"/>
                      <a:pt x="1739049" y="13146"/>
                      <a:pt x="1739049" y="17891"/>
                    </a:cubicBezTo>
                    <a:lnTo>
                      <a:pt x="1739049" y="514097"/>
                    </a:lnTo>
                    <a:cubicBezTo>
                      <a:pt x="1739049" y="523978"/>
                      <a:pt x="1731039" y="531988"/>
                      <a:pt x="1721158" y="531988"/>
                    </a:cubicBezTo>
                    <a:lnTo>
                      <a:pt x="17891" y="531988"/>
                    </a:lnTo>
                    <a:cubicBezTo>
                      <a:pt x="13146" y="531988"/>
                      <a:pt x="8595" y="530103"/>
                      <a:pt x="5240" y="526748"/>
                    </a:cubicBezTo>
                    <a:cubicBezTo>
                      <a:pt x="1885" y="523393"/>
                      <a:pt x="0" y="518842"/>
                      <a:pt x="0" y="514097"/>
                    </a:cubicBezTo>
                    <a:lnTo>
                      <a:pt x="0" y="17891"/>
                    </a:lnTo>
                    <a:cubicBezTo>
                      <a:pt x="0" y="13146"/>
                      <a:pt x="1885" y="8595"/>
                      <a:pt x="5240" y="5240"/>
                    </a:cubicBezTo>
                    <a:cubicBezTo>
                      <a:pt x="8595" y="1885"/>
                      <a:pt x="13146" y="0"/>
                      <a:pt x="17891" y="0"/>
                    </a:cubicBezTo>
                    <a:close/>
                  </a:path>
                </a:pathLst>
              </a:custGeom>
              <a:ln w="28575" cap="rnd">
                <a:solidFill>
                  <a:srgbClr val="6C6E80"/>
                </a:solidFill>
                <a:prstDash val="dash"/>
                <a:round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28575"/>
                <a:ext cx="1739049" cy="5605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14957887" y="7872433"/>
              <a:ext cx="8124397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적외선 방식 거리 측정</a:t>
              </a:r>
            </a:p>
            <a:p>
              <a:pPr algn="l" marL="647700" indent="-323850" lvl="1">
                <a:lnSpc>
                  <a:spcPts val="675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거리: 10 cm ~ 80 cm </a:t>
              </a:r>
            </a:p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396424" y="7900560"/>
              <a:ext cx="3137565" cy="1834176"/>
            </a:xfrm>
            <a:custGeom>
              <a:avLst/>
              <a:gdLst/>
              <a:ahLst/>
              <a:cxnLst/>
              <a:rect r="r" b="b" t="t" l="l"/>
              <a:pathLst>
                <a:path h="1834176" w="3137565">
                  <a:moveTo>
                    <a:pt x="0" y="0"/>
                  </a:moveTo>
                  <a:lnTo>
                    <a:pt x="3137564" y="0"/>
                  </a:lnTo>
                  <a:lnTo>
                    <a:pt x="3137564" y="1834176"/>
                  </a:lnTo>
                  <a:lnTo>
                    <a:pt x="0" y="1834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877" t="-34821" r="-5472" b="-35745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832474" y="4084448"/>
              <a:ext cx="2265464" cy="2215624"/>
            </a:xfrm>
            <a:custGeom>
              <a:avLst/>
              <a:gdLst/>
              <a:ahLst/>
              <a:cxnLst/>
              <a:rect r="r" b="b" t="t" l="l"/>
              <a:pathLst>
                <a:path h="2215624" w="2265464">
                  <a:moveTo>
                    <a:pt x="0" y="0"/>
                  </a:moveTo>
                  <a:lnTo>
                    <a:pt x="2265464" y="0"/>
                  </a:lnTo>
                  <a:lnTo>
                    <a:pt x="2265464" y="2215624"/>
                  </a:lnTo>
                  <a:lnTo>
                    <a:pt x="0" y="2215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2649640" y="4211439"/>
              <a:ext cx="2082900" cy="1982493"/>
            </a:xfrm>
            <a:custGeom>
              <a:avLst/>
              <a:gdLst/>
              <a:ahLst/>
              <a:cxnLst/>
              <a:rect r="r" b="b" t="t" l="l"/>
              <a:pathLst>
                <a:path h="1982493" w="2082900">
                  <a:moveTo>
                    <a:pt x="0" y="0"/>
                  </a:moveTo>
                  <a:lnTo>
                    <a:pt x="2082900" y="0"/>
                  </a:lnTo>
                  <a:lnTo>
                    <a:pt x="2082900" y="1982493"/>
                  </a:lnTo>
                  <a:lnTo>
                    <a:pt x="0" y="1982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671" t="-13648" r="-11962" b="-16247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12150805" y="8253371"/>
              <a:ext cx="3080568" cy="1600322"/>
            </a:xfrm>
            <a:custGeom>
              <a:avLst/>
              <a:gdLst/>
              <a:ahLst/>
              <a:cxnLst/>
              <a:rect r="r" b="b" t="t" l="l"/>
              <a:pathLst>
                <a:path h="1600322" w="3080568">
                  <a:moveTo>
                    <a:pt x="0" y="0"/>
                  </a:moveTo>
                  <a:lnTo>
                    <a:pt x="3080569" y="0"/>
                  </a:lnTo>
                  <a:lnTo>
                    <a:pt x="3080569" y="1600323"/>
                  </a:lnTo>
                  <a:lnTo>
                    <a:pt x="0" y="1600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861" t="-71451" r="-5265" b="-3708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 rot="0">
              <a:off x="3315291" y="720439"/>
              <a:ext cx="8374265" cy="1886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38kHz 적외선 신호 송신</a:t>
              </a:r>
            </a:p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거리: 18m, 각도: ±45°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615120" y="2684599"/>
              <a:ext cx="270017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IR 송신 모듈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3315291" y="4413487"/>
              <a:ext cx="8374265" cy="1886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전류로 빛을 방출하는 소자</a:t>
              </a:r>
            </a:p>
            <a:p>
              <a:pPr algn="l" marL="604519" indent="-302260" lvl="1">
                <a:lnSpc>
                  <a:spcPts val="629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제어 범위 : 0 ~ 255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748748" y="6327893"/>
              <a:ext cx="270017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발광 다이오드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564320" y="10084493"/>
              <a:ext cx="270017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초음파 센서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12084154" y="10069668"/>
              <a:ext cx="330129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IR 거리 센서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96" id="96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SENSORS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사용한 센서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HOW IT WORKS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구동 방식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1611" y="2780381"/>
            <a:ext cx="17743125" cy="6000112"/>
            <a:chOff x="0" y="0"/>
            <a:chExt cx="23657500" cy="80001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67581" cy="8000149"/>
            </a:xfrm>
            <a:custGeom>
              <a:avLst/>
              <a:gdLst/>
              <a:ahLst/>
              <a:cxnLst/>
              <a:rect r="r" b="b" t="t" l="l"/>
              <a:pathLst>
                <a:path h="8000149" w="11467581">
                  <a:moveTo>
                    <a:pt x="0" y="0"/>
                  </a:moveTo>
                  <a:lnTo>
                    <a:pt x="11467581" y="0"/>
                  </a:lnTo>
                  <a:lnTo>
                    <a:pt x="11467581" y="8000149"/>
                  </a:lnTo>
                  <a:lnTo>
                    <a:pt x="0" y="800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8302" t="0" r="-2206" b="-84327"/>
              </a:stretch>
            </a:blipFill>
            <a:ln w="28575" cap="sq">
              <a:solidFill>
                <a:srgbClr val="6C6E80"/>
              </a:solidFill>
              <a:prstDash val="dash"/>
              <a:miter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723978" y="163209"/>
              <a:ext cx="11933522" cy="7836940"/>
            </a:xfrm>
            <a:custGeom>
              <a:avLst/>
              <a:gdLst/>
              <a:ahLst/>
              <a:cxnLst/>
              <a:rect r="r" b="b" t="t" l="l"/>
              <a:pathLst>
                <a:path h="7836940" w="11933522">
                  <a:moveTo>
                    <a:pt x="0" y="0"/>
                  </a:moveTo>
                  <a:lnTo>
                    <a:pt x="11933522" y="0"/>
                  </a:lnTo>
                  <a:lnTo>
                    <a:pt x="11933522" y="7836940"/>
                  </a:lnTo>
                  <a:lnTo>
                    <a:pt x="0" y="7836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5066" t="-91476" r="-6046" b="-5404"/>
              </a:stretch>
            </a:blipFill>
            <a:ln w="28575" cap="sq">
              <a:solidFill>
                <a:srgbClr val="6C6E80"/>
              </a:solidFill>
              <a:prstDash val="dash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PROBLEM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직면한 문제점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6422" y="2497842"/>
            <a:ext cx="16472878" cy="7036551"/>
            <a:chOff x="0" y="0"/>
            <a:chExt cx="21963837" cy="93820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5359837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04" t="-38040" r="-2826" b="0"/>
              </a:stretch>
            </a:blipFill>
            <a:ln w="28575" cap="sq">
              <a:solidFill>
                <a:srgbClr val="6C6E80"/>
              </a:solidFill>
              <a:prstDash val="dash"/>
              <a:miter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954685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350" t="-166189" r="-19535" b="-75466"/>
              </a:stretch>
            </a:blipFill>
            <a:ln w="28575" cap="sq">
              <a:solidFill>
                <a:srgbClr val="6C6E80"/>
              </a:solidFill>
              <a:prstDash val="dash"/>
              <a:miter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50585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9490" r="0" b="-37659"/>
              </a:stretch>
            </a:blipFill>
            <a:ln w="38100" cap="sq">
              <a:solidFill>
                <a:srgbClr val="6C6E80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7607431" y="7336847"/>
              <a:ext cx="7298507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732" indent="-431866" lvl="1">
                <a:lnSpc>
                  <a:spcPts val="4800"/>
                </a:lnSpc>
                <a:spcBef>
                  <a:spcPct val="0"/>
                </a:spcBef>
                <a:buAutoNum type="arabicPeriod" startAt="1"/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설계 구조상의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오류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185741" y="7336847"/>
              <a:ext cx="5527040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3. 난잡한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배선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7336847"/>
              <a:ext cx="7154585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732" indent="-431866" lvl="1">
                <a:lnSpc>
                  <a:spcPts val="4800"/>
                </a:lnSpc>
                <a:spcBef>
                  <a:spcPct val="0"/>
                </a:spcBef>
                <a:buAutoNum type="arabicPeriod" startAt="1"/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모터와 센서의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쏠림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5833409" y="8420159"/>
              <a:ext cx="607179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점퍼의 케이블이 쉽게</a:t>
              </a:r>
              <a:r>
                <a:rPr lang="en-US" b="true" sz="2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빠지고 난잡함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500626" y="8367551"/>
              <a:ext cx="3546277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보드, 빵판, 배터리가 </a:t>
              </a:r>
            </a:p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들어갈 공간이 부족함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62382" y="8420159"/>
              <a:ext cx="522982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모터와 센서가 전면에 모여 있음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DEMO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6790" y="2566690"/>
            <a:ext cx="16726903" cy="6030699"/>
            <a:chOff x="0" y="0"/>
            <a:chExt cx="22302537" cy="80409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882048" y="3204175"/>
              <a:ext cx="14836572" cy="4836757"/>
            </a:xfrm>
            <a:custGeom>
              <a:avLst/>
              <a:gdLst/>
              <a:ahLst/>
              <a:cxnLst/>
              <a:rect r="r" b="b" t="t" l="l"/>
              <a:pathLst>
                <a:path h="4836757" w="14836572">
                  <a:moveTo>
                    <a:pt x="0" y="0"/>
                  </a:moveTo>
                  <a:lnTo>
                    <a:pt x="14836572" y="0"/>
                  </a:lnTo>
                  <a:lnTo>
                    <a:pt x="14836572" y="4836757"/>
                  </a:lnTo>
                  <a:lnTo>
                    <a:pt x="0" y="4836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52" r="0" b="0"/>
              </a:stretch>
            </a:blipFill>
            <a:ln cap="sq">
              <a:noFill/>
              <a:prstDash val="dash"/>
              <a:miter/>
            </a:ln>
          </p:spPr>
        </p:sp>
        <p:sp>
          <p:nvSpPr>
            <p:cNvPr name="AutoShape 24" id="24"/>
            <p:cNvSpPr/>
            <p:nvPr/>
          </p:nvSpPr>
          <p:spPr>
            <a:xfrm flipV="true">
              <a:off x="18328437" y="2513866"/>
              <a:ext cx="1838199" cy="1333074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18069579" y="1731605"/>
              <a:ext cx="4194114" cy="825294"/>
              <a:chOff x="0" y="0"/>
              <a:chExt cx="828467" cy="1630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28467" cy="163021"/>
              </a:xfrm>
              <a:custGeom>
                <a:avLst/>
                <a:gdLst/>
                <a:ahLst/>
                <a:cxnLst/>
                <a:rect r="r" b="b" t="t" l="l"/>
                <a:pathLst>
                  <a:path h="163021" w="828467">
                    <a:moveTo>
                      <a:pt x="17228" y="0"/>
                    </a:moveTo>
                    <a:lnTo>
                      <a:pt x="811238" y="0"/>
                    </a:lnTo>
                    <a:cubicBezTo>
                      <a:pt x="820753" y="0"/>
                      <a:pt x="828467" y="7713"/>
                      <a:pt x="828467" y="17228"/>
                    </a:cubicBezTo>
                    <a:lnTo>
                      <a:pt x="828467" y="145793"/>
                    </a:lnTo>
                    <a:cubicBezTo>
                      <a:pt x="828467" y="155308"/>
                      <a:pt x="820753" y="163021"/>
                      <a:pt x="811238" y="163021"/>
                    </a:cubicBezTo>
                    <a:lnTo>
                      <a:pt x="17228" y="163021"/>
                    </a:lnTo>
                    <a:cubicBezTo>
                      <a:pt x="7713" y="163021"/>
                      <a:pt x="0" y="155308"/>
                      <a:pt x="0" y="145793"/>
                    </a:cubicBezTo>
                    <a:lnTo>
                      <a:pt x="0" y="17228"/>
                    </a:lnTo>
                    <a:cubicBezTo>
                      <a:pt x="0" y="7713"/>
                      <a:pt x="7713" y="0"/>
                      <a:pt x="17228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00025"/>
                <a:ext cx="828467" cy="363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8030735" y="1752713"/>
              <a:ext cx="4271803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우측 장애물 감지</a:t>
              </a:r>
            </a:p>
          </p:txBody>
        </p:sp>
        <p:sp>
          <p:nvSpPr>
            <p:cNvPr name="AutoShape 29" id="29"/>
            <p:cNvSpPr/>
            <p:nvPr/>
          </p:nvSpPr>
          <p:spPr>
            <a:xfrm flipH="true">
              <a:off x="11300334" y="1542420"/>
              <a:ext cx="263608" cy="2137758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9264796" y="0"/>
              <a:ext cx="4639032" cy="1636034"/>
              <a:chOff x="0" y="0"/>
              <a:chExt cx="916352" cy="32316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16352" cy="323167"/>
              </a:xfrm>
              <a:custGeom>
                <a:avLst/>
                <a:gdLst/>
                <a:ahLst/>
                <a:cxnLst/>
                <a:rect r="r" b="b" t="t" l="l"/>
                <a:pathLst>
                  <a:path h="323167" w="916352">
                    <a:moveTo>
                      <a:pt x="15576" y="0"/>
                    </a:moveTo>
                    <a:lnTo>
                      <a:pt x="900776" y="0"/>
                    </a:lnTo>
                    <a:cubicBezTo>
                      <a:pt x="904907" y="0"/>
                      <a:pt x="908869" y="1641"/>
                      <a:pt x="911790" y="4562"/>
                    </a:cubicBezTo>
                    <a:cubicBezTo>
                      <a:pt x="914711" y="7483"/>
                      <a:pt x="916352" y="11445"/>
                      <a:pt x="916352" y="15576"/>
                    </a:cubicBezTo>
                    <a:lnTo>
                      <a:pt x="916352" y="307591"/>
                    </a:lnTo>
                    <a:cubicBezTo>
                      <a:pt x="916352" y="311722"/>
                      <a:pt x="914711" y="315684"/>
                      <a:pt x="911790" y="318605"/>
                    </a:cubicBezTo>
                    <a:cubicBezTo>
                      <a:pt x="908869" y="321526"/>
                      <a:pt x="904907" y="323167"/>
                      <a:pt x="900776" y="323167"/>
                    </a:cubicBezTo>
                    <a:lnTo>
                      <a:pt x="15576" y="323167"/>
                    </a:lnTo>
                    <a:cubicBezTo>
                      <a:pt x="11445" y="323167"/>
                      <a:pt x="7483" y="321526"/>
                      <a:pt x="4562" y="318605"/>
                    </a:cubicBezTo>
                    <a:cubicBezTo>
                      <a:pt x="1641" y="315684"/>
                      <a:pt x="0" y="311722"/>
                      <a:pt x="0" y="307591"/>
                    </a:cubicBezTo>
                    <a:lnTo>
                      <a:pt x="0" y="15576"/>
                    </a:lnTo>
                    <a:cubicBezTo>
                      <a:pt x="0" y="11445"/>
                      <a:pt x="1641" y="7483"/>
                      <a:pt x="4562" y="4562"/>
                    </a:cubicBezTo>
                    <a:cubicBezTo>
                      <a:pt x="7483" y="1641"/>
                      <a:pt x="11445" y="0"/>
                      <a:pt x="15576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00025"/>
                <a:ext cx="916352" cy="52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9346236" y="-18833"/>
              <a:ext cx="4435414" cy="1561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좌측 / 중앙 / 우측</a:t>
              </a:r>
            </a:p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신호 감지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5177199" y="2086781"/>
              <a:ext cx="3921433" cy="825294"/>
              <a:chOff x="0" y="0"/>
              <a:chExt cx="774604" cy="16302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74604" cy="163021"/>
              </a:xfrm>
              <a:custGeom>
                <a:avLst/>
                <a:gdLst/>
                <a:ahLst/>
                <a:cxnLst/>
                <a:rect r="r" b="b" t="t" l="l"/>
                <a:pathLst>
                  <a:path h="163021" w="774604">
                    <a:moveTo>
                      <a:pt x="18426" y="0"/>
                    </a:moveTo>
                    <a:lnTo>
                      <a:pt x="756178" y="0"/>
                    </a:lnTo>
                    <a:cubicBezTo>
                      <a:pt x="766354" y="0"/>
                      <a:pt x="774604" y="8250"/>
                      <a:pt x="774604" y="18426"/>
                    </a:cubicBezTo>
                    <a:lnTo>
                      <a:pt x="774604" y="144595"/>
                    </a:lnTo>
                    <a:cubicBezTo>
                      <a:pt x="774604" y="154771"/>
                      <a:pt x="766354" y="163021"/>
                      <a:pt x="756178" y="163021"/>
                    </a:cubicBezTo>
                    <a:lnTo>
                      <a:pt x="18426" y="163021"/>
                    </a:lnTo>
                    <a:cubicBezTo>
                      <a:pt x="8250" y="163021"/>
                      <a:pt x="0" y="154771"/>
                      <a:pt x="0" y="144595"/>
                    </a:cubicBezTo>
                    <a:lnTo>
                      <a:pt x="0" y="18426"/>
                    </a:lnTo>
                    <a:cubicBezTo>
                      <a:pt x="0" y="8250"/>
                      <a:pt x="8250" y="0"/>
                      <a:pt x="18426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00025"/>
                <a:ext cx="774604" cy="363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5074433" y="2095190"/>
              <a:ext cx="4049599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사람/사물 인식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7099233" y="2856343"/>
              <a:ext cx="1625309" cy="990597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1921148" y="2391158"/>
              <a:ext cx="2394642" cy="1400189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0" id="40"/>
            <p:cNvGrpSpPr/>
            <p:nvPr/>
          </p:nvGrpSpPr>
          <p:grpSpPr>
            <a:xfrm rot="0">
              <a:off x="121676" y="1636034"/>
              <a:ext cx="4194114" cy="825294"/>
              <a:chOff x="0" y="0"/>
              <a:chExt cx="828467" cy="1630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28467" cy="163021"/>
              </a:xfrm>
              <a:custGeom>
                <a:avLst/>
                <a:gdLst/>
                <a:ahLst/>
                <a:cxnLst/>
                <a:rect r="r" b="b" t="t" l="l"/>
                <a:pathLst>
                  <a:path h="163021" w="828467">
                    <a:moveTo>
                      <a:pt x="17228" y="0"/>
                    </a:moveTo>
                    <a:lnTo>
                      <a:pt x="811238" y="0"/>
                    </a:lnTo>
                    <a:cubicBezTo>
                      <a:pt x="820753" y="0"/>
                      <a:pt x="828467" y="7713"/>
                      <a:pt x="828467" y="17228"/>
                    </a:cubicBezTo>
                    <a:lnTo>
                      <a:pt x="828467" y="145793"/>
                    </a:lnTo>
                    <a:cubicBezTo>
                      <a:pt x="828467" y="155308"/>
                      <a:pt x="820753" y="163021"/>
                      <a:pt x="811238" y="163021"/>
                    </a:cubicBezTo>
                    <a:lnTo>
                      <a:pt x="17228" y="163021"/>
                    </a:lnTo>
                    <a:cubicBezTo>
                      <a:pt x="7713" y="163021"/>
                      <a:pt x="0" y="155308"/>
                      <a:pt x="0" y="145793"/>
                    </a:cubicBezTo>
                    <a:lnTo>
                      <a:pt x="0" y="17228"/>
                    </a:lnTo>
                    <a:cubicBezTo>
                      <a:pt x="0" y="7713"/>
                      <a:pt x="7713" y="0"/>
                      <a:pt x="17228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00025"/>
                <a:ext cx="828467" cy="363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0" y="1630005"/>
              <a:ext cx="4465766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좌측 장애물 감지</a:t>
              </a:r>
            </a:p>
          </p:txBody>
        </p:sp>
        <p:sp>
          <p:nvSpPr>
            <p:cNvPr name="AutoShape 44" id="44"/>
            <p:cNvSpPr/>
            <p:nvPr/>
          </p:nvSpPr>
          <p:spPr>
            <a:xfrm>
              <a:off x="11412652" y="2856343"/>
              <a:ext cx="847005" cy="823836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>
              <a:off x="10452384" y="2856343"/>
              <a:ext cx="960269" cy="823836"/>
            </a:xfrm>
            <a:prstGeom prst="line">
              <a:avLst/>
            </a:prstGeom>
            <a:ln cap="flat" w="50800">
              <a:solidFill>
                <a:srgbClr val="6C6E8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290512"/>
            <a:ext cx="15692667" cy="1476375"/>
            <a:chOff x="0" y="0"/>
            <a:chExt cx="20923556" cy="19685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82625"/>
              <a:ext cx="20923556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DEMO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88551" y="0"/>
              <a:ext cx="53718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시연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1008" y="2732630"/>
            <a:ext cx="17685984" cy="6463111"/>
            <a:chOff x="0" y="0"/>
            <a:chExt cx="23581313" cy="8617482"/>
          </a:xfrm>
        </p:grpSpPr>
        <p:pic>
          <p:nvPicPr>
            <p:cNvPr name="Picture 23" id="23">
              <a:hlinkClick action="ppaction://media"/>
            </p:cNvPr>
            <p:cNvPicPr>
              <a:picLocks noChangeAspect="true"/>
            </p:cNvPicPr>
            <p:nvPr>
              <a:videoFile r:link="rId5"/>
              <p:extLst>
                <p:ext uri="{DAA4B4D4-6D71-4841-9C94-3DE7FCFB9230}">
                  <p14:media xmlns:p14="http://schemas.microsoft.com/office/powerpoint/2010/main" r:embed="rId6"/>
                </p:ext>
              </p:extLst>
            </p:nvPr>
          </p:nvPicPr>
          <p:blipFill>
            <a:blip r:embed="rId4"/>
            <a:srcRect l="24780" t="0" r="12194" b="0"/>
            <a:stretch>
              <a:fillRect/>
            </a:stretch>
          </p:blipFill>
          <p:spPr>
            <a:xfrm flipH="false" flipV="false" rot="0">
              <a:off x="7935132" y="0"/>
              <a:ext cx="7711048" cy="6876736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pic>
          <p:nvPicPr>
            <p:cNvPr name="Picture 24" id="24">
              <a:hlinkClick action="ppaction://media"/>
            </p:cNvPr>
            <p:cNvPicPr>
              <a:picLocks noChangeAspect="true"/>
            </p:cNvPicPr>
            <p:nvPr>
              <a:videoFile r:link="rId8"/>
              <p:extLst>
                <p:ext uri="{DAA4B4D4-6D71-4841-9C94-3DE7FCFB9230}">
                  <p14:media xmlns:p14="http://schemas.microsoft.com/office/powerpoint/2010/main" r:embed="rId9"/>
                </p:ext>
              </p:extLst>
            </p:nvPr>
          </p:nvPicPr>
          <p:blipFill>
            <a:blip r:embed="rId7"/>
            <a:srcRect l="22796" t="0" r="14066" b="0"/>
            <a:stretch>
              <a:fillRect/>
            </a:stretch>
          </p:blipFill>
          <p:spPr>
            <a:xfrm flipH="false" flipV="false" rot="0">
              <a:off x="15856630" y="0"/>
              <a:ext cx="7724682" cy="6876736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pic>
          <p:nvPicPr>
            <p:cNvPr name="Picture 25" id="25">
              <a:hlinkClick action="ppaction://media"/>
            </p:cNvPr>
            <p:cNvPicPr>
              <a:picLocks noChangeAspect="true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>
            <a:blip r:embed="rId10"/>
            <a:srcRect l="23326" t="0" r="13537" b="0"/>
            <a:stretch>
              <a:fillRect/>
            </a:stretch>
          </p:blipFill>
          <p:spPr>
            <a:xfrm flipH="false" flipV="false" rot="0">
              <a:off x="0" y="0"/>
              <a:ext cx="7724682" cy="6876736"/>
            </a:xfrm>
            <a:prstGeom prst="rect">
              <a:avLst/>
            </a:prstGeom>
            <a:ln w="28575" cap="sq">
              <a:solidFill>
                <a:srgbClr val="6C6E80"/>
              </a:solidFill>
              <a:prstDash val="dash"/>
            </a:ln>
          </p:spPr>
        </p:pic>
        <p:sp>
          <p:nvSpPr>
            <p:cNvPr name="TextBox 26" id="26"/>
            <p:cNvSpPr txBox="true"/>
            <p:nvPr/>
          </p:nvSpPr>
          <p:spPr>
            <a:xfrm rot="0">
              <a:off x="10001695" y="7230007"/>
              <a:ext cx="3577924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양쪽 바퀴 모두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전진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896134" y="7230007"/>
              <a:ext cx="3346141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좌측 바퀴 전진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우측 바퀴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890470" y="7941207"/>
              <a:ext cx="135180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후진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8018632" y="7230007"/>
              <a:ext cx="3564289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좌측 바퀴 </a:t>
              </a:r>
            </a:p>
            <a:p>
              <a:pPr algn="just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우측 바퀴 전진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9991277" y="7230007"/>
              <a:ext cx="1331807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후진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614612" y="285750"/>
            <a:ext cx="9058775" cy="1419225"/>
            <a:chOff x="0" y="0"/>
            <a:chExt cx="12078367" cy="18923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04850"/>
              <a:ext cx="12078367" cy="118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IMPROVEMENT PLAN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441706" y="0"/>
              <a:ext cx="7194954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6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개선 방향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2763970"/>
            <a:ext cx="15894695" cy="5489284"/>
            <a:chOff x="0" y="0"/>
            <a:chExt cx="21192927" cy="73190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863790" y="0"/>
              <a:ext cx="2250766" cy="983528"/>
            </a:xfrm>
            <a:custGeom>
              <a:avLst/>
              <a:gdLst/>
              <a:ahLst/>
              <a:cxnLst/>
              <a:rect r="r" b="b" t="t" l="l"/>
              <a:pathLst>
                <a:path h="983528" w="2250766">
                  <a:moveTo>
                    <a:pt x="0" y="0"/>
                  </a:moveTo>
                  <a:lnTo>
                    <a:pt x="2250766" y="0"/>
                  </a:lnTo>
                  <a:lnTo>
                    <a:pt x="2250766" y="983528"/>
                  </a:lnTo>
                  <a:lnTo>
                    <a:pt x="0" y="98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0"/>
              <a:ext cx="7154585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732" indent="-431866" lvl="1">
                <a:lnSpc>
                  <a:spcPts val="4800"/>
                </a:lnSpc>
                <a:spcBef>
                  <a:spcPct val="0"/>
                </a:spcBef>
                <a:buAutoNum type="arabicPeriod" startAt="1"/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모터와 센서의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쏠림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4747" y="3311724"/>
              <a:ext cx="7079838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732" indent="-431866" lvl="1">
                <a:lnSpc>
                  <a:spcPts val="4800"/>
                </a:lnSpc>
                <a:spcBef>
                  <a:spcPct val="0"/>
                </a:spcBef>
                <a:buAutoNum type="arabicPeriod" startAt="1"/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설계 구조상의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오류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97985" y="6506245"/>
              <a:ext cx="4383231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3.난잡한 </a:t>
              </a:r>
              <a:r>
                <a:rPr lang="en-US" sz="4000">
                  <a:solidFill>
                    <a:srgbClr val="BC1823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배선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825756" y="165100"/>
              <a:ext cx="6663928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부품 배치 분산 및 하중 분산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820400" y="3476824"/>
              <a:ext cx="10372527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부품 크기 · 배선 공간을 고려한 구조 재설계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825756" y="6588795"/>
              <a:ext cx="860623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납땜 기판 · 커넥터 활용한 배선 정리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7863790" y="3226360"/>
              <a:ext cx="2250766" cy="983528"/>
            </a:xfrm>
            <a:custGeom>
              <a:avLst/>
              <a:gdLst/>
              <a:ahLst/>
              <a:cxnLst/>
              <a:rect r="r" b="b" t="t" l="l"/>
              <a:pathLst>
                <a:path h="983528" w="2250766">
                  <a:moveTo>
                    <a:pt x="0" y="0"/>
                  </a:moveTo>
                  <a:lnTo>
                    <a:pt x="2250766" y="0"/>
                  </a:lnTo>
                  <a:lnTo>
                    <a:pt x="2250766" y="983528"/>
                  </a:lnTo>
                  <a:lnTo>
                    <a:pt x="0" y="98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863790" y="6252967"/>
              <a:ext cx="2250766" cy="983528"/>
            </a:xfrm>
            <a:custGeom>
              <a:avLst/>
              <a:gdLst/>
              <a:ahLst/>
              <a:cxnLst/>
              <a:rect r="r" b="b" t="t" l="l"/>
              <a:pathLst>
                <a:path h="983528" w="2250766">
                  <a:moveTo>
                    <a:pt x="0" y="0"/>
                  </a:moveTo>
                  <a:lnTo>
                    <a:pt x="2250766" y="0"/>
                  </a:lnTo>
                  <a:lnTo>
                    <a:pt x="2250766" y="983528"/>
                  </a:lnTo>
                  <a:lnTo>
                    <a:pt x="0" y="98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3833119"/>
            <a:ext cx="15692667" cy="2620762"/>
            <a:chOff x="0" y="0"/>
            <a:chExt cx="20923556" cy="349434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95577" y="0"/>
              <a:ext cx="20112124" cy="3494349"/>
              <a:chOff x="0" y="0"/>
              <a:chExt cx="3972765" cy="69024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972765" cy="690242"/>
              </a:xfrm>
              <a:custGeom>
                <a:avLst/>
                <a:gdLst/>
                <a:ahLst/>
                <a:cxnLst/>
                <a:rect r="r" b="b" t="t" l="l"/>
                <a:pathLst>
                  <a:path h="690242" w="3972765">
                    <a:moveTo>
                      <a:pt x="7699" y="0"/>
                    </a:moveTo>
                    <a:lnTo>
                      <a:pt x="3965067" y="0"/>
                    </a:lnTo>
                    <a:cubicBezTo>
                      <a:pt x="3967108" y="0"/>
                      <a:pt x="3969067" y="811"/>
                      <a:pt x="3970510" y="2255"/>
                    </a:cubicBezTo>
                    <a:cubicBezTo>
                      <a:pt x="3971954" y="3699"/>
                      <a:pt x="3972765" y="5657"/>
                      <a:pt x="3972765" y="7699"/>
                    </a:cubicBezTo>
                    <a:lnTo>
                      <a:pt x="3972765" y="682543"/>
                    </a:lnTo>
                    <a:cubicBezTo>
                      <a:pt x="3972765" y="684585"/>
                      <a:pt x="3971954" y="686543"/>
                      <a:pt x="3970510" y="687987"/>
                    </a:cubicBezTo>
                    <a:cubicBezTo>
                      <a:pt x="3969067" y="689431"/>
                      <a:pt x="3967108" y="690242"/>
                      <a:pt x="3965067" y="690242"/>
                    </a:cubicBezTo>
                    <a:lnTo>
                      <a:pt x="7699" y="690242"/>
                    </a:lnTo>
                    <a:cubicBezTo>
                      <a:pt x="5657" y="690242"/>
                      <a:pt x="3699" y="689431"/>
                      <a:pt x="2255" y="687987"/>
                    </a:cubicBezTo>
                    <a:cubicBezTo>
                      <a:pt x="811" y="686543"/>
                      <a:pt x="0" y="684585"/>
                      <a:pt x="0" y="682543"/>
                    </a:cubicBezTo>
                    <a:lnTo>
                      <a:pt x="0" y="7699"/>
                    </a:lnTo>
                    <a:cubicBezTo>
                      <a:pt x="0" y="5657"/>
                      <a:pt x="811" y="3699"/>
                      <a:pt x="2255" y="2255"/>
                    </a:cubicBezTo>
                    <a:cubicBezTo>
                      <a:pt x="3699" y="811"/>
                      <a:pt x="5657" y="0"/>
                      <a:pt x="7699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00025"/>
                <a:ext cx="3972765" cy="890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286799"/>
              <a:ext cx="20923556" cy="2035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400"/>
                </a:lnSpc>
                <a:spcBef>
                  <a:spcPct val="0"/>
                </a:spcBef>
              </a:pPr>
              <a:r>
                <a:rPr lang="en-US" sz="95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QUESTION &amp; ANSWER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91424" y="172374"/>
              <a:ext cx="11140708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질의 응답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7429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3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7429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400000">
              <a:off x="1333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9621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3525500" y="895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19621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13525500" y="5524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7429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1333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29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3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19621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0" t="0" r="-2148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5400000">
              <a:off x="13525500" y="2095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0" t="0" r="-2962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19621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l="-29629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13525500" y="-1333500"/>
              <a:ext cx="3429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2148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666" y="3833119"/>
            <a:ext cx="15692667" cy="2620762"/>
            <a:chOff x="0" y="0"/>
            <a:chExt cx="20923556" cy="349434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4881244" y="0"/>
              <a:ext cx="11127154" cy="3494349"/>
              <a:chOff x="0" y="0"/>
              <a:chExt cx="2197956" cy="69024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97956" cy="690242"/>
              </a:xfrm>
              <a:custGeom>
                <a:avLst/>
                <a:gdLst/>
                <a:ahLst/>
                <a:cxnLst/>
                <a:rect r="r" b="b" t="t" l="l"/>
                <a:pathLst>
                  <a:path h="690242" w="2197956">
                    <a:moveTo>
                      <a:pt x="13915" y="0"/>
                    </a:moveTo>
                    <a:lnTo>
                      <a:pt x="2184041" y="0"/>
                    </a:lnTo>
                    <a:cubicBezTo>
                      <a:pt x="2187732" y="0"/>
                      <a:pt x="2191271" y="1466"/>
                      <a:pt x="2193881" y="4076"/>
                    </a:cubicBezTo>
                    <a:cubicBezTo>
                      <a:pt x="2196490" y="6685"/>
                      <a:pt x="2197956" y="10225"/>
                      <a:pt x="2197956" y="13915"/>
                    </a:cubicBezTo>
                    <a:lnTo>
                      <a:pt x="2197956" y="676326"/>
                    </a:lnTo>
                    <a:cubicBezTo>
                      <a:pt x="2197956" y="680017"/>
                      <a:pt x="2196490" y="683556"/>
                      <a:pt x="2193881" y="686166"/>
                    </a:cubicBezTo>
                    <a:cubicBezTo>
                      <a:pt x="2191271" y="688776"/>
                      <a:pt x="2187732" y="690242"/>
                      <a:pt x="2184041" y="690242"/>
                    </a:cubicBezTo>
                    <a:lnTo>
                      <a:pt x="13915" y="690242"/>
                    </a:lnTo>
                    <a:cubicBezTo>
                      <a:pt x="10225" y="690242"/>
                      <a:pt x="6685" y="688776"/>
                      <a:pt x="4076" y="686166"/>
                    </a:cubicBezTo>
                    <a:cubicBezTo>
                      <a:pt x="1466" y="683556"/>
                      <a:pt x="0" y="680017"/>
                      <a:pt x="0" y="676326"/>
                    </a:cubicBezTo>
                    <a:lnTo>
                      <a:pt x="0" y="13915"/>
                    </a:lnTo>
                    <a:cubicBezTo>
                      <a:pt x="0" y="10225"/>
                      <a:pt x="1466" y="6685"/>
                      <a:pt x="4076" y="4076"/>
                    </a:cubicBezTo>
                    <a:cubicBezTo>
                      <a:pt x="6685" y="1466"/>
                      <a:pt x="10225" y="0"/>
                      <a:pt x="13915" y="0"/>
                    </a:cubicBezTo>
                    <a:close/>
                  </a:path>
                </a:pathLst>
              </a:custGeom>
              <a:solidFill>
                <a:srgbClr val="C0C5C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00025"/>
                <a:ext cx="2197956" cy="890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20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218145"/>
              <a:ext cx="20923556" cy="2035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400"/>
                </a:lnSpc>
                <a:spcBef>
                  <a:spcPct val="0"/>
                </a:spcBef>
              </a:pPr>
              <a:r>
                <a:rPr lang="en-US" sz="950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THANK YOU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441893" y="2488803"/>
              <a:ext cx="16039769" cy="682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1조 고태원 오시원 이연우 유정현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DAHMJjErRnk</dc:identifier>
  <dcterms:modified xsi:type="dcterms:W3CDTF">2011-08-01T06:04:30Z</dcterms:modified>
  <cp:revision>1</cp:revision>
  <dc:title>센서 공학 프레젠테이션</dc:title>
</cp:coreProperties>
</file>